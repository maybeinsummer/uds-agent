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E74A4-99A2-49C7-9687-BEA80520ABC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FF341-47B3-44E2-8CEA-70BB69F0A4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5088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E74A4-99A2-49C7-9687-BEA80520ABC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FF341-47B3-44E2-8CEA-70BB69F0A4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353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E74A4-99A2-49C7-9687-BEA80520ABC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FF341-47B3-44E2-8CEA-70BB69F0A4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828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E74A4-99A2-49C7-9687-BEA80520ABC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FF341-47B3-44E2-8CEA-70BB69F0A4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706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E74A4-99A2-49C7-9687-BEA80520ABC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FF341-47B3-44E2-8CEA-70BB69F0A4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144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E74A4-99A2-49C7-9687-BEA80520ABC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FF341-47B3-44E2-8CEA-70BB69F0A4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29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E74A4-99A2-49C7-9687-BEA80520ABC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FF341-47B3-44E2-8CEA-70BB69F0A4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5278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E74A4-99A2-49C7-9687-BEA80520ABC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FF341-47B3-44E2-8CEA-70BB69F0A4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1964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E74A4-99A2-49C7-9687-BEA80520ABC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FF341-47B3-44E2-8CEA-70BB69F0A4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6918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E74A4-99A2-49C7-9687-BEA80520ABC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FF341-47B3-44E2-8CEA-70BB69F0A4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999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E74A4-99A2-49C7-9687-BEA80520ABC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FF341-47B3-44E2-8CEA-70BB69F0A4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773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EE74A4-99A2-49C7-9687-BEA80520ABC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7FF341-47B3-44E2-8CEA-70BB69F0A4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282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汽车电子</a:t>
            </a:r>
            <a:r>
              <a:rPr lang="en-US" altLang="zh-CN" dirty="0" smtClean="0"/>
              <a:t>Ai</a:t>
            </a:r>
            <a:r>
              <a:rPr lang="zh-CN" altLang="en-US" dirty="0" smtClean="0"/>
              <a:t>生成</a:t>
            </a:r>
            <a:r>
              <a:rPr lang="en-US" altLang="zh-CN" dirty="0" smtClean="0"/>
              <a:t>UDS</a:t>
            </a:r>
            <a:r>
              <a:rPr lang="zh-CN" altLang="en-US" dirty="0" smtClean="0"/>
              <a:t>测试用例阶段总结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946400" y="5098329"/>
            <a:ext cx="9144000" cy="1655762"/>
          </a:xfrm>
        </p:spPr>
        <p:txBody>
          <a:bodyPr/>
          <a:lstStyle/>
          <a:p>
            <a:r>
              <a:rPr lang="zh-CN" altLang="en-US" dirty="0" smtClean="0"/>
              <a:t>陈亚</a:t>
            </a:r>
            <a:endParaRPr lang="en-US" altLang="zh-CN" dirty="0" smtClean="0"/>
          </a:p>
          <a:p>
            <a:r>
              <a:rPr lang="en-US" altLang="zh-CN" dirty="0" smtClean="0"/>
              <a:t>20260603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17460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7837" y="226580"/>
            <a:ext cx="10515600" cy="475384"/>
          </a:xfrm>
        </p:spPr>
        <p:txBody>
          <a:bodyPr>
            <a:noAutofit/>
          </a:bodyPr>
          <a:lstStyle/>
          <a:p>
            <a:r>
              <a:rPr lang="zh-CN" altLang="en-US" sz="3600" b="1" dirty="0" smtClean="0"/>
              <a:t>测试数据展示</a:t>
            </a:r>
            <a:endParaRPr lang="zh-CN" altLang="en-US" sz="3600" b="1" dirty="0"/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750456" y="877453"/>
            <a:ext cx="10515600" cy="4248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比亚迪</a:t>
            </a:r>
            <a:r>
              <a:rPr lang="en-US" altLang="zh-CN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-AGC</a:t>
            </a:r>
            <a:r>
              <a:rPr lang="zh-CN" altLang="en-US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测试数据</a:t>
            </a:r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758254"/>
            <a:ext cx="9183814" cy="3103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750456" y="877453"/>
            <a:ext cx="10515600" cy="4248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Cetus</a:t>
            </a:r>
            <a:r>
              <a:rPr lang="en-US" altLang="zh-CN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-</a:t>
            </a:r>
            <a:r>
              <a:rPr lang="zh-CN" altLang="en-US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测试数据</a:t>
            </a:r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237837" y="226580"/>
            <a:ext cx="10515600" cy="475384"/>
          </a:xfrm>
        </p:spPr>
        <p:txBody>
          <a:bodyPr>
            <a:noAutofit/>
          </a:bodyPr>
          <a:lstStyle/>
          <a:p>
            <a:r>
              <a:rPr lang="zh-CN" altLang="en-US" sz="3600" b="1" dirty="0" smtClean="0"/>
              <a:t>测试数据展示</a:t>
            </a:r>
            <a:endParaRPr lang="zh-CN" altLang="en-US" sz="3600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837" y="1679743"/>
            <a:ext cx="9183600" cy="3649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46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750456" y="877453"/>
            <a:ext cx="10515600" cy="4248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秦岭</a:t>
            </a:r>
            <a:r>
              <a:rPr lang="en-US" altLang="zh-CN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-</a:t>
            </a:r>
            <a:r>
              <a:rPr lang="zh-CN" altLang="en-US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测试数据</a:t>
            </a:r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237837" y="226580"/>
            <a:ext cx="10515600" cy="475384"/>
          </a:xfrm>
        </p:spPr>
        <p:txBody>
          <a:bodyPr>
            <a:normAutofit fontScale="90000"/>
          </a:bodyPr>
          <a:lstStyle/>
          <a:p>
            <a:r>
              <a:rPr lang="zh-CN" altLang="en-US" b="1" dirty="0" smtClean="0"/>
              <a:t>测试数据展示</a:t>
            </a:r>
            <a:endParaRPr lang="zh-CN" altLang="en-US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583" y="1677751"/>
            <a:ext cx="9183600" cy="3600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130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237837" y="226580"/>
            <a:ext cx="10515600" cy="475384"/>
          </a:xfrm>
        </p:spPr>
        <p:txBody>
          <a:bodyPr>
            <a:normAutofit fontScale="90000"/>
          </a:bodyPr>
          <a:lstStyle/>
          <a:p>
            <a:r>
              <a:rPr lang="zh-CN" altLang="en-US" sz="4000" b="1" dirty="0" smtClean="0">
                <a:latin typeface="+mj-ea"/>
              </a:rPr>
              <a:t>测试数据</a:t>
            </a:r>
            <a:r>
              <a:rPr lang="zh-CN" altLang="en-US" b="1" dirty="0" smtClean="0">
                <a:latin typeface="+mj-ea"/>
              </a:rPr>
              <a:t>分析</a:t>
            </a:r>
            <a:endParaRPr lang="zh-CN" altLang="en-US" b="1" dirty="0">
              <a:latin typeface="+mj-ea"/>
            </a:endParaRPr>
          </a:p>
        </p:txBody>
      </p:sp>
      <p:sp>
        <p:nvSpPr>
          <p:cNvPr id="8" name="标题 1"/>
          <p:cNvSpPr txBox="1">
            <a:spLocks/>
          </p:cNvSpPr>
          <p:nvPr/>
        </p:nvSpPr>
        <p:spPr>
          <a:xfrm>
            <a:off x="237837" y="877453"/>
            <a:ext cx="10515600" cy="424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zh-CN" altLang="en-US" sz="2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通过率分析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50456" y="1477816"/>
            <a:ext cx="44799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</a:t>
            </a: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检验标准</a:t>
            </a:r>
            <a:endParaRPr lang="en-US" altLang="zh-CN" sz="12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测试用例格式编写准确</a:t>
            </a:r>
            <a:endParaRPr lang="en-US" altLang="zh-CN" sz="12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未出现表格中没有的数据</a:t>
            </a:r>
            <a:endParaRPr lang="en-US" altLang="zh-CN" sz="12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测试步骤中字段填写准确</a:t>
            </a:r>
            <a:endParaRPr lang="en-US" altLang="zh-CN" sz="12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预期结果中字段填写准确</a:t>
            </a:r>
            <a:endParaRPr lang="en-US" altLang="zh-CN" sz="12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测试用例编号结构正确，从</a:t>
            </a:r>
            <a:r>
              <a:rPr lang="en-US" altLang="zh-CN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</a:t>
            </a: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开始递增，无重复，</a:t>
            </a:r>
            <a:r>
              <a:rPr lang="en-US" altLang="zh-CN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ID</a:t>
            </a: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必须是唯一的</a:t>
            </a:r>
            <a:endParaRPr lang="en-US" altLang="zh-CN" sz="12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测试用例编写逻辑严谨，且合理</a:t>
            </a:r>
            <a:endParaRPr lang="en-US" altLang="zh-CN" sz="12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521849" y="1477816"/>
            <a:ext cx="8331200" cy="19999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2.</a:t>
            </a: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通过率失败问题汇总</a:t>
            </a:r>
            <a:endParaRPr lang="en-US" altLang="zh-CN" sz="12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本次生成的</a:t>
            </a:r>
            <a:r>
              <a:rPr lang="en-US" altLang="zh-CN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UDS</a:t>
            </a: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测试用例中，存在编写格式错误问题</a:t>
            </a:r>
            <a:endParaRPr lang="en-US" altLang="zh-CN" sz="12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在测试过程中，出现了预期结果中的步骤，导致测试数据混乱</a:t>
            </a:r>
            <a:endParaRPr lang="en-US" altLang="zh-CN" sz="12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测试用例生成过程中，有部分</a:t>
            </a:r>
            <a:r>
              <a:rPr lang="en-US" altLang="zh-CN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Service</a:t>
            </a: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缺少编号，或使用了未定义的格式</a:t>
            </a:r>
            <a:endParaRPr lang="en-US" altLang="zh-CN" sz="12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预期结果中字段使用错误</a:t>
            </a:r>
            <a:r>
              <a:rPr lang="en-US" altLang="zh-CN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Service 0x10</a:t>
            </a: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跳转逻辑存在问题</a:t>
            </a:r>
            <a:endParaRPr lang="en-US" altLang="zh-CN" sz="12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</a:t>
            </a:r>
            <a:r>
              <a:rPr lang="en-US" altLang="zh-CN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NRC</a:t>
            </a: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回复中，存在错误码错误问题</a:t>
            </a:r>
            <a:endParaRPr lang="en-US" altLang="zh-CN" sz="12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编写用例测试步骤编写策略使用错误</a:t>
            </a:r>
            <a:endParaRPr lang="en-US" altLang="zh-CN" sz="12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50456" y="4218909"/>
            <a:ext cx="44799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3.</a:t>
            </a:r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未覆盖率问题</a:t>
            </a: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汇总</a:t>
            </a:r>
            <a:endParaRPr lang="en-US" altLang="zh-CN" sz="12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本次生成的</a:t>
            </a:r>
            <a:r>
              <a:rPr lang="en-US" altLang="zh-CN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UDS</a:t>
            </a: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测试用例中，存在</a:t>
            </a:r>
            <a:r>
              <a:rPr lang="en-US" altLang="zh-CN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NRC</a:t>
            </a: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优先级组合不全问题</a:t>
            </a:r>
            <a:endParaRPr lang="en-US" altLang="zh-CN" sz="12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生成的测试用例中，存在逻辑场景覆盖不全问题，在</a:t>
            </a:r>
            <a:r>
              <a:rPr lang="en-US" altLang="zh-CN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Service ID 0x10</a:t>
            </a: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中，会话跳转机制需要验证完整</a:t>
            </a:r>
            <a:endParaRPr lang="en-US" altLang="zh-CN" sz="12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76806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237837" y="226580"/>
            <a:ext cx="10515600" cy="475384"/>
          </a:xfrm>
        </p:spPr>
        <p:txBody>
          <a:bodyPr>
            <a:noAutofit/>
          </a:bodyPr>
          <a:lstStyle/>
          <a:p>
            <a:r>
              <a:rPr lang="zh-CN" altLang="en-US" sz="3600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测试效率分析</a:t>
            </a:r>
            <a:endParaRPr lang="zh-CN" altLang="en-US" sz="36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" name="标题 1"/>
          <p:cNvSpPr txBox="1">
            <a:spLocks/>
          </p:cNvSpPr>
          <p:nvPr/>
        </p:nvSpPr>
        <p:spPr>
          <a:xfrm>
            <a:off x="237837" y="868217"/>
            <a:ext cx="10515600" cy="424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Ai</a:t>
            </a:r>
            <a:r>
              <a:rPr lang="zh-CN" altLang="en-US" sz="2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生成</a:t>
            </a:r>
            <a:r>
              <a:rPr lang="en-US" altLang="zh-CN" sz="2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UDS</a:t>
            </a:r>
            <a:r>
              <a:rPr lang="zh-CN" altLang="en-US" sz="2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测试用例时效分析</a:t>
            </a:r>
          </a:p>
        </p:txBody>
      </p:sp>
      <p:sp>
        <p:nvSpPr>
          <p:cNvPr id="5" name="文本框 6"/>
          <p:cNvSpPr txBox="1"/>
          <p:nvPr/>
        </p:nvSpPr>
        <p:spPr>
          <a:xfrm>
            <a:off x="685110" y="1301306"/>
            <a:ext cx="8331200" cy="891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</a:t>
            </a: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人工效率标准</a:t>
            </a:r>
            <a:endParaRPr lang="en-US" altLang="zh-CN" sz="12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人工编写测试用例约 </a:t>
            </a:r>
            <a:r>
              <a:rPr lang="en-US" altLang="zh-CN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100</a:t>
            </a: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条</a:t>
            </a:r>
            <a:r>
              <a:rPr lang="en-US" altLang="zh-CN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/</a:t>
            </a: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天</a:t>
            </a:r>
            <a:endParaRPr lang="en-US" altLang="zh-CN" sz="12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完整项目约</a:t>
            </a:r>
            <a:r>
              <a:rPr lang="en-US" altLang="zh-CN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870</a:t>
            </a: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条测试用例，约耗时 </a:t>
            </a:r>
            <a:r>
              <a:rPr lang="en-US" altLang="zh-CN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9</a:t>
            </a: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个工作日</a:t>
            </a:r>
            <a:endParaRPr lang="en-US" altLang="zh-CN" sz="12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5110" y="2428587"/>
            <a:ext cx="3481538" cy="614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2.Ai</a:t>
            </a: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编写效率</a:t>
            </a:r>
            <a:endParaRPr lang="en-US" altLang="zh-CN" sz="12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单个</a:t>
            </a: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项目生成时间约在</a:t>
            </a:r>
            <a:r>
              <a:rPr lang="en-US" altLang="zh-CN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30</a:t>
            </a: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分钟</a:t>
            </a:r>
            <a:r>
              <a:rPr lang="en-US" altLang="zh-CN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/</a:t>
            </a: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次</a:t>
            </a:r>
            <a:endParaRPr lang="en-US" altLang="zh-CN" sz="12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891302" y="1301306"/>
            <a:ext cx="519462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3.</a:t>
            </a: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人工测试用例核对 </a:t>
            </a:r>
            <a:r>
              <a:rPr lang="en-US" altLang="zh-CN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VS Ai</a:t>
            </a: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测试用例生成核对</a:t>
            </a:r>
            <a:endParaRPr lang="en-US" altLang="zh-CN" sz="12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人工编写完成后进行测试用例会议评审，约</a:t>
            </a:r>
            <a:r>
              <a:rPr lang="en-US" altLang="zh-CN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4H</a:t>
            </a: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评审完成，修订耗时</a:t>
            </a:r>
            <a:r>
              <a:rPr lang="en-US" altLang="zh-CN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天</a:t>
            </a:r>
            <a:endParaRPr lang="en-US" altLang="zh-CN" sz="12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Ai</a:t>
            </a: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生成用例约 </a:t>
            </a:r>
            <a:r>
              <a:rPr lang="en-US" altLang="zh-CN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30</a:t>
            </a: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分钟，人工核对，修订耗时</a:t>
            </a:r>
            <a:r>
              <a:rPr lang="en-US" altLang="zh-CN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</a:t>
            </a: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天</a:t>
            </a:r>
            <a:r>
              <a:rPr lang="en-US" altLang="zh-CN" sz="1400" dirty="0" smtClean="0"/>
              <a:t/>
            </a:r>
            <a:br>
              <a:rPr lang="en-US" altLang="zh-CN" sz="1400" dirty="0" smtClean="0"/>
            </a:br>
            <a:endParaRPr lang="en-US" altLang="zh-CN" sz="1400" dirty="0" smtClean="0"/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048329"/>
              </p:ext>
            </p:extLst>
          </p:nvPr>
        </p:nvGraphicFramePr>
        <p:xfrm>
          <a:off x="853661" y="3251500"/>
          <a:ext cx="3997050" cy="168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3760">
                  <a:extLst>
                    <a:ext uri="{9D8B030D-6E8A-4147-A177-3AD203B41FA5}">
                      <a16:colId xmlns:a16="http://schemas.microsoft.com/office/drawing/2014/main" val="965888804"/>
                    </a:ext>
                  </a:extLst>
                </a:gridCol>
                <a:gridCol w="807952">
                  <a:extLst>
                    <a:ext uri="{9D8B030D-6E8A-4147-A177-3AD203B41FA5}">
                      <a16:colId xmlns:a16="http://schemas.microsoft.com/office/drawing/2014/main" val="2879254867"/>
                    </a:ext>
                  </a:extLst>
                </a:gridCol>
                <a:gridCol w="834286">
                  <a:extLst>
                    <a:ext uri="{9D8B030D-6E8A-4147-A177-3AD203B41FA5}">
                      <a16:colId xmlns:a16="http://schemas.microsoft.com/office/drawing/2014/main" val="1088303347"/>
                    </a:ext>
                  </a:extLst>
                </a:gridCol>
                <a:gridCol w="1481052">
                  <a:extLst>
                    <a:ext uri="{9D8B030D-6E8A-4147-A177-3AD203B41FA5}">
                      <a16:colId xmlns:a16="http://schemas.microsoft.com/office/drawing/2014/main" val="4156336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项目</a:t>
                      </a:r>
                      <a:endParaRPr lang="zh-CN" altLang="en-US" sz="12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Ai</a:t>
                      </a:r>
                      <a:r>
                        <a:rPr lang="zh-CN" altLang="en-US" sz="12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用例数量</a:t>
                      </a:r>
                      <a:r>
                        <a:rPr lang="en-US" altLang="zh-CN" sz="12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(</a:t>
                      </a:r>
                      <a:r>
                        <a:rPr lang="zh-CN" altLang="en-US" sz="12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条</a:t>
                      </a:r>
                      <a:r>
                        <a:rPr lang="en-US" altLang="zh-CN" sz="12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)</a:t>
                      </a:r>
                      <a:endParaRPr lang="zh-CN" altLang="en-US" sz="12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Ai</a:t>
                      </a:r>
                      <a:r>
                        <a:rPr lang="zh-CN" altLang="en-US" sz="12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生成（小时）</a:t>
                      </a:r>
                      <a:endParaRPr lang="zh-CN" altLang="en-US" sz="12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人工修订</a:t>
                      </a:r>
                      <a:r>
                        <a:rPr lang="en-US" altLang="zh-CN" sz="12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(</a:t>
                      </a:r>
                      <a:r>
                        <a:rPr lang="zh-CN" altLang="en-US" sz="12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小时</a:t>
                      </a:r>
                      <a:r>
                        <a:rPr lang="en-US" altLang="zh-CN" sz="12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)</a:t>
                      </a:r>
                      <a:endParaRPr lang="zh-CN" altLang="en-US" sz="12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7575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比亚迪</a:t>
                      </a:r>
                      <a:r>
                        <a:rPr lang="en-US" altLang="zh-CN" sz="11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-AGC</a:t>
                      </a:r>
                      <a:endParaRPr lang="zh-CN" altLang="en-US" sz="11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669</a:t>
                      </a:r>
                      <a:endParaRPr lang="zh-CN" altLang="en-US" sz="11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0.5</a:t>
                      </a:r>
                      <a:endParaRPr lang="zh-CN" altLang="en-US" sz="11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32</a:t>
                      </a:r>
                      <a:endParaRPr lang="zh-CN" altLang="en-US" sz="11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973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秦岭</a:t>
                      </a:r>
                      <a:endParaRPr lang="zh-CN" altLang="en-US" sz="11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807</a:t>
                      </a:r>
                      <a:endParaRPr lang="zh-CN" altLang="en-US" sz="11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0.5</a:t>
                      </a:r>
                      <a:endParaRPr lang="zh-CN" altLang="en-US" sz="11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32</a:t>
                      </a:r>
                      <a:endParaRPr lang="zh-CN" altLang="en-US" sz="11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093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1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Cetus</a:t>
                      </a:r>
                      <a:endParaRPr lang="zh-CN" altLang="en-US" sz="11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783</a:t>
                      </a:r>
                      <a:endParaRPr lang="zh-CN" altLang="en-US" sz="11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0.5</a:t>
                      </a:r>
                      <a:endParaRPr lang="zh-CN" altLang="en-US" sz="11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32</a:t>
                      </a:r>
                      <a:endParaRPr lang="zh-CN" altLang="en-US" sz="1100" dirty="0" smtClean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  <a:p>
                      <a:endParaRPr lang="zh-CN" altLang="en-US" sz="11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5178267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818110"/>
              </p:ext>
            </p:extLst>
          </p:nvPr>
        </p:nvGraphicFramePr>
        <p:xfrm>
          <a:off x="853661" y="4961350"/>
          <a:ext cx="3997049" cy="1625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3849">
                  <a:extLst>
                    <a:ext uri="{9D8B030D-6E8A-4147-A177-3AD203B41FA5}">
                      <a16:colId xmlns:a16="http://schemas.microsoft.com/office/drawing/2014/main" val="965888804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4127053674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621519570"/>
                    </a:ext>
                  </a:extLst>
                </a:gridCol>
              </a:tblGrid>
              <a:tr h="473476">
                <a:tc>
                  <a:txBody>
                    <a:bodyPr/>
                    <a:lstStyle/>
                    <a:p>
                      <a:r>
                        <a:rPr lang="zh-CN" altLang="en-US" sz="12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项目</a:t>
                      </a:r>
                      <a:endParaRPr lang="zh-CN" altLang="en-US" sz="12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人工编写</a:t>
                      </a:r>
                      <a:r>
                        <a:rPr lang="en-US" altLang="zh-CN" sz="12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(</a:t>
                      </a:r>
                      <a:r>
                        <a:rPr lang="zh-CN" altLang="en-US" sz="12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小时</a:t>
                      </a:r>
                      <a:r>
                        <a:rPr lang="en-US" altLang="zh-CN" sz="12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)</a:t>
                      </a:r>
                      <a:endParaRPr lang="zh-CN" altLang="en-US" sz="12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人工修订</a:t>
                      </a:r>
                      <a:r>
                        <a:rPr lang="en-US" altLang="zh-CN" sz="12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(</a:t>
                      </a:r>
                      <a:r>
                        <a:rPr lang="zh-CN" altLang="en-US" sz="12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小时</a:t>
                      </a:r>
                      <a:r>
                        <a:rPr lang="en-US" altLang="zh-CN" sz="12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)</a:t>
                      </a:r>
                      <a:endParaRPr lang="zh-CN" altLang="en-US" sz="1200" dirty="0" smtClean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  <a:p>
                      <a:endParaRPr lang="zh-CN" altLang="en-US" sz="12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575167"/>
                  </a:ext>
                </a:extLst>
              </a:tr>
              <a:tr h="384041"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比亚迪</a:t>
                      </a:r>
                      <a:r>
                        <a:rPr lang="en-US" altLang="zh-CN" sz="11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-AGC</a:t>
                      </a:r>
                      <a:endParaRPr lang="zh-CN" altLang="en-US" sz="11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56</a:t>
                      </a:r>
                      <a:endParaRPr lang="zh-CN" altLang="en-US" sz="11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8</a:t>
                      </a:r>
                      <a:endParaRPr lang="zh-CN" altLang="en-US" sz="11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973874"/>
                  </a:ext>
                </a:extLst>
              </a:tr>
              <a:tr h="384041"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秦岭</a:t>
                      </a:r>
                      <a:endParaRPr lang="zh-CN" altLang="en-US" sz="11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64</a:t>
                      </a:r>
                      <a:endParaRPr lang="zh-CN" altLang="en-US" sz="11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8</a:t>
                      </a:r>
                      <a:endParaRPr lang="zh-CN" altLang="en-US" sz="11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093632"/>
                  </a:ext>
                </a:extLst>
              </a:tr>
              <a:tr h="384041">
                <a:tc>
                  <a:txBody>
                    <a:bodyPr/>
                    <a:lstStyle/>
                    <a:p>
                      <a:r>
                        <a:rPr lang="en-US" altLang="zh-CN" sz="11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Cetus</a:t>
                      </a:r>
                      <a:endParaRPr lang="zh-CN" altLang="en-US" sz="11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64</a:t>
                      </a:r>
                      <a:endParaRPr lang="zh-CN" altLang="en-US" sz="11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8</a:t>
                      </a:r>
                      <a:endParaRPr lang="zh-CN" altLang="en-US" sz="11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178267"/>
                  </a:ext>
                </a:extLst>
              </a:tr>
            </a:tbl>
          </a:graphicData>
        </a:graphic>
      </p:graphicFrame>
      <p:sp>
        <p:nvSpPr>
          <p:cNvPr id="12" name="文本框 6"/>
          <p:cNvSpPr txBox="1"/>
          <p:nvPr/>
        </p:nvSpPr>
        <p:spPr>
          <a:xfrm>
            <a:off x="5891302" y="2428587"/>
            <a:ext cx="4377084" cy="1767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4.</a:t>
            </a: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生成总结</a:t>
            </a:r>
            <a:endParaRPr lang="en-US" altLang="zh-CN" sz="12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Ai</a:t>
            </a: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生成用例后，通过率较低，人工修改耗时较长</a:t>
            </a:r>
            <a:endParaRPr lang="en-US" altLang="zh-CN" sz="12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人工编写用例不能同时进行三个项目，需要分步进行</a:t>
            </a:r>
            <a:endParaRPr lang="en-US" altLang="zh-CN" sz="12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人工编写的测试用例，单条用例准确率比</a:t>
            </a:r>
            <a:r>
              <a:rPr lang="en-US" altLang="zh-CN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Ai</a:t>
            </a: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会高，但是没有</a:t>
            </a:r>
            <a:r>
              <a:rPr lang="en-US" altLang="zh-CN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Ai</a:t>
            </a: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生成的用例场景覆盖多，主要体现在细节场景</a:t>
            </a:r>
            <a:endParaRPr lang="en-US" altLang="zh-CN" sz="12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400" dirty="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839" y="3873677"/>
            <a:ext cx="4780598" cy="2899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995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412</Words>
  <Application>Microsoft Office PowerPoint</Application>
  <PresentationFormat>宽屏</PresentationFormat>
  <Paragraphs>70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等线 Light</vt:lpstr>
      <vt:lpstr>微软雅黑 Light</vt:lpstr>
      <vt:lpstr>Arial</vt:lpstr>
      <vt:lpstr>Office 主题​​</vt:lpstr>
      <vt:lpstr>汽车电子Ai生成UDS测试用例阶段总结</vt:lpstr>
      <vt:lpstr>测试数据展示</vt:lpstr>
      <vt:lpstr>测试数据展示</vt:lpstr>
      <vt:lpstr>测试数据展示</vt:lpstr>
      <vt:lpstr>测试数据分析</vt:lpstr>
      <vt:lpstr>测试效率分析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汽车电子Ai生成UDS测试用例阶段总结</dc:title>
  <dc:creator>Administrator</dc:creator>
  <cp:lastModifiedBy>Administrator</cp:lastModifiedBy>
  <cp:revision>30</cp:revision>
  <dcterms:created xsi:type="dcterms:W3CDTF">2026-06-03T00:44:05Z</dcterms:created>
  <dcterms:modified xsi:type="dcterms:W3CDTF">2026-06-03T07:07:25Z</dcterms:modified>
</cp:coreProperties>
</file>